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6" r:id="rId2"/>
    <p:sldId id="257" r:id="rId3"/>
    <p:sldId id="266" r:id="rId4"/>
    <p:sldId id="319" r:id="rId5"/>
    <p:sldId id="320" r:id="rId6"/>
    <p:sldId id="322" r:id="rId7"/>
    <p:sldId id="323" r:id="rId8"/>
    <p:sldId id="324" r:id="rId9"/>
    <p:sldId id="325" r:id="rId10"/>
    <p:sldId id="330" r:id="rId11"/>
    <p:sldId id="331" r:id="rId12"/>
    <p:sldId id="334" r:id="rId13"/>
    <p:sldId id="265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111" d="100"/>
          <a:sy n="111" d="100"/>
        </p:scale>
        <p:origin x="158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55A15E-1A99-40A5-A89D-4D03C7726ECB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5B4E94-A4BF-4054-BFBC-37471E04F5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5191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xmlns="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xmlns="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6/30/2020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3schools.com/" TargetMode="External"/><Relationship Id="rId2" Type="http://schemas.openxmlformats.org/officeDocument/2006/relationships/hyperlink" Target="http://www.mysql.com/" TargetMode="External"/><Relationship Id="rId1" Type="http://schemas.openxmlformats.org/officeDocument/2006/relationships/slideLayout" Target="../slideLayouts/slideLayout9.xml"/><Relationship Id="rId4" Type="http://schemas.openxmlformats.org/officeDocument/2006/relationships/hyperlink" Target="http://www.php.net/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CSS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3222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xmlns="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3463687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xmlns="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xmlns="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xmlns="" val="3023211198"/>
                    </a:ext>
                  </a:extLst>
                </a:gridCol>
                <a:gridCol w="926974">
                  <a:extLst>
                    <a:ext uri="{9D8B030D-6E8A-4147-A177-3AD203B41FA5}">
                      <a16:colId xmlns:a16="http://schemas.microsoft.com/office/drawing/2014/main" xmlns="" val="1762131981"/>
                    </a:ext>
                  </a:extLst>
                </a:gridCol>
                <a:gridCol w="1187866">
                  <a:extLst>
                    <a:ext uri="{9D8B030D-6E8A-4147-A177-3AD203B41FA5}">
                      <a16:colId xmlns:a16="http://schemas.microsoft.com/office/drawing/2014/main" xmlns="" val="445458238"/>
                    </a:ext>
                  </a:extLst>
                </a:gridCol>
                <a:gridCol w="2112100">
                  <a:extLst>
                    <a:ext uri="{9D8B030D-6E8A-4147-A177-3AD203B41FA5}">
                      <a16:colId xmlns:a16="http://schemas.microsoft.com/office/drawing/2014/main" xmlns="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Summer 19-20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smtClean="0"/>
                        <a:t>Rashidul Hasan Nabil &lt;rashidul@aiub.edu&gt;</a:t>
                      </a:r>
                      <a:endParaRPr lang="en-US" i="1" dirty="0" smtClean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xmlns="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Web Technologies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009930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CSS Border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CSS Margin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CSS Padding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CSS Height Width</a:t>
            </a:r>
          </a:p>
          <a:p>
            <a:pPr marL="342900" indent="-342900">
              <a:buAutoNum type="arabicPeriod"/>
            </a:pP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CSS Borders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xmlns="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37C26D19-85DA-834B-9600-C9820C508897}"/>
              </a:ext>
            </a:extLst>
          </p:cNvPr>
          <p:cNvSpPr txBox="1"/>
          <p:nvPr/>
        </p:nvSpPr>
        <p:spPr>
          <a:xfrm>
            <a:off x="164339" y="2009116"/>
            <a:ext cx="8613901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 CSS </a:t>
            </a:r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border</a:t>
            </a:r>
            <a:r>
              <a:rPr lang="en-US" sz="2800" dirty="0"/>
              <a:t> properties allow you to specify the style, width, and color of an element's border.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 </a:t>
            </a:r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border-style</a:t>
            </a:r>
            <a:r>
              <a:rPr lang="en-US" sz="2800" dirty="0"/>
              <a:t> property specifies what kind of border to display.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 </a:t>
            </a:r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border-width</a:t>
            </a:r>
            <a:r>
              <a:rPr lang="en-US" sz="2800" dirty="0"/>
              <a:t> property specifies the width of the four borders.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 </a:t>
            </a:r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border-color</a:t>
            </a:r>
            <a:r>
              <a:rPr lang="en-US" sz="2800" dirty="0"/>
              <a:t> property is used to set the color of the four borders.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Example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56CD2EA8-B54C-CE4F-A943-BFB367453E0E}"/>
              </a:ext>
            </a:extLst>
          </p:cNvPr>
          <p:cNvSpPr txBox="1"/>
          <p:nvPr/>
        </p:nvSpPr>
        <p:spPr>
          <a:xfrm>
            <a:off x="430721" y="975972"/>
            <a:ext cx="889215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p.one {</a:t>
            </a:r>
          </a:p>
          <a:p>
            <a:r>
              <a:rPr lang="en-US" sz="1600" dirty="0"/>
              <a:t>  border-style: solid;</a:t>
            </a:r>
          </a:p>
          <a:p>
            <a:r>
              <a:rPr lang="en-US" sz="1600" dirty="0"/>
              <a:t>  border-color: red;</a:t>
            </a:r>
          </a:p>
          <a:p>
            <a:r>
              <a:rPr lang="en-US" sz="1600" dirty="0"/>
              <a:t>}</a:t>
            </a:r>
          </a:p>
          <a:p>
            <a:endParaRPr lang="en-US" sz="1600" dirty="0"/>
          </a:p>
          <a:p>
            <a:r>
              <a:rPr lang="en-US" sz="1600" dirty="0" err="1"/>
              <a:t>p.two</a:t>
            </a:r>
            <a:r>
              <a:rPr lang="en-US" sz="1600" dirty="0"/>
              <a:t> {</a:t>
            </a:r>
          </a:p>
          <a:p>
            <a:r>
              <a:rPr lang="en-US" sz="1600" dirty="0"/>
              <a:t>  border-style: solid;</a:t>
            </a:r>
          </a:p>
          <a:p>
            <a:r>
              <a:rPr lang="en-US" sz="1600" dirty="0"/>
              <a:t>  border-color: green;</a:t>
            </a:r>
          </a:p>
          <a:p>
            <a:r>
              <a:rPr lang="en-US" sz="1600" dirty="0"/>
              <a:t>}</a:t>
            </a:r>
          </a:p>
          <a:p>
            <a:endParaRPr lang="en-US" sz="1600" dirty="0"/>
          </a:p>
          <a:p>
            <a:r>
              <a:rPr lang="en-US" sz="1600" dirty="0" err="1"/>
              <a:t>p.three</a:t>
            </a:r>
            <a:r>
              <a:rPr lang="en-US" sz="1600" dirty="0"/>
              <a:t> {</a:t>
            </a:r>
          </a:p>
          <a:p>
            <a:r>
              <a:rPr lang="en-US" sz="1600" dirty="0"/>
              <a:t>  border-style: dotted;</a:t>
            </a:r>
          </a:p>
          <a:p>
            <a:r>
              <a:rPr lang="en-US" sz="1600" dirty="0"/>
              <a:t>  border-color: blue;</a:t>
            </a:r>
          </a:p>
          <a:p>
            <a:r>
              <a:rPr lang="en-US" sz="1600" dirty="0"/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FD45DDD7-120A-4B96-BB66-B26C3FBFDC87}"/>
              </a:ext>
            </a:extLst>
          </p:cNvPr>
          <p:cNvSpPr txBox="1"/>
          <p:nvPr/>
        </p:nvSpPr>
        <p:spPr>
          <a:xfrm flipH="1">
            <a:off x="4239649" y="4330736"/>
            <a:ext cx="23035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A777F6D9-3739-4B20-9C49-2B62A12561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896274"/>
            <a:ext cx="8534400" cy="184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3427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Explanation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56CD2EA8-B54C-CE4F-A943-BFB367453E0E}"/>
              </a:ext>
            </a:extLst>
          </p:cNvPr>
          <p:cNvSpPr txBox="1"/>
          <p:nvPr/>
        </p:nvSpPr>
        <p:spPr>
          <a:xfrm>
            <a:off x="125921" y="1229191"/>
            <a:ext cx="889215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it is also possible to specify all the individual border properties in one property.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border property is a shorthand property for the following individual border properties:</a:t>
            </a:r>
          </a:p>
          <a:p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border-width</a:t>
            </a:r>
          </a:p>
          <a:p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border-style (required)</a:t>
            </a:r>
          </a:p>
          <a:p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border-color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401FAB03-3366-489F-AF0A-808426774ACE}"/>
              </a:ext>
            </a:extLst>
          </p:cNvPr>
          <p:cNvSpPr/>
          <p:nvPr/>
        </p:nvSpPr>
        <p:spPr>
          <a:xfrm>
            <a:off x="0" y="3912715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Segoe UI" panose="020B0502040204020203" pitchFamily="34" charset="0"/>
              </a:rPr>
              <a:t>Example</a:t>
            </a:r>
          </a:p>
          <a:p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p 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  border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 5px solid red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8EA8C045-6963-4FDD-B54B-B6ADC49CF5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4156" y="4922238"/>
            <a:ext cx="5584873" cy="38161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6F6A47B0-8A6A-4DB4-9AD0-D1EAAD4EAA7F}"/>
              </a:ext>
            </a:extLst>
          </p:cNvPr>
          <p:cNvSpPr/>
          <p:nvPr/>
        </p:nvSpPr>
        <p:spPr>
          <a:xfrm>
            <a:off x="0" y="5159985"/>
            <a:ext cx="4572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Segoe UI" panose="020B0502040204020203" pitchFamily="34" charset="0"/>
              </a:rPr>
              <a:t>Left Border</a:t>
            </a:r>
          </a:p>
          <a:p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p 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  border-left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 6px solid red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  background-color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CD"/>
                </a:solidFill>
                <a:latin typeface="Consolas" panose="020B0609020204030204" pitchFamily="49" charset="0"/>
              </a:rPr>
              <a:t>lightgrey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E02ABBAF-D113-4A7F-AC66-9E81A230E1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9965" y="5993606"/>
            <a:ext cx="5128113" cy="42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1302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CSS Margins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xmlns="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xmlns="" id="{68710762-839A-41F8-84A0-2FFA7B32CC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341" y="2164117"/>
            <a:ext cx="8386441" cy="424731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altLang="en-US" dirty="0"/>
              <a:t>The CSS </a:t>
            </a:r>
            <a:r>
              <a:rPr lang="en-US" altLang="en-US" dirty="0">
                <a:solidFill>
                  <a:schemeClr val="bg2">
                    <a:lumMod val="50000"/>
                  </a:schemeClr>
                </a:solidFill>
              </a:rPr>
              <a:t>margin</a:t>
            </a:r>
            <a:r>
              <a:rPr lang="en-US" altLang="en-US" dirty="0"/>
              <a:t> properties are used to create space around elements, outside of any defined borders.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altLang="en-US" dirty="0"/>
              <a:t>There are properties for setting the margin for each side of an element (top, right, bottom, and left).</a:t>
            </a:r>
            <a:endParaRPr lang="en-US" altLang="en-US" dirty="0">
              <a:solidFill>
                <a:schemeClr val="bg2">
                  <a:lumMod val="50000"/>
                </a:schemeClr>
              </a:solidFill>
            </a:endParaRPr>
          </a:p>
          <a:p>
            <a:pPr lvl="0"/>
            <a:r>
              <a:rPr lang="en-US" altLang="en-US" dirty="0">
                <a:solidFill>
                  <a:schemeClr val="bg2">
                    <a:lumMod val="50000"/>
                  </a:schemeClr>
                </a:solidFill>
              </a:rPr>
              <a:t>margin-top</a:t>
            </a:r>
          </a:p>
          <a:p>
            <a:pPr lvl="0"/>
            <a:r>
              <a:rPr lang="en-US" altLang="en-US" dirty="0">
                <a:solidFill>
                  <a:schemeClr val="bg2">
                    <a:lumMod val="50000"/>
                  </a:schemeClr>
                </a:solidFill>
              </a:rPr>
              <a:t>margin-right</a:t>
            </a:r>
          </a:p>
          <a:p>
            <a:pPr lvl="0"/>
            <a:r>
              <a:rPr lang="en-US" altLang="en-US" dirty="0">
                <a:solidFill>
                  <a:schemeClr val="bg2">
                    <a:lumMod val="50000"/>
                  </a:schemeClr>
                </a:solidFill>
              </a:rPr>
              <a:t>margin-bottom</a:t>
            </a:r>
          </a:p>
          <a:p>
            <a:pPr lvl="0"/>
            <a:r>
              <a:rPr lang="en-US" altLang="en-US" dirty="0">
                <a:solidFill>
                  <a:schemeClr val="bg2">
                    <a:lumMod val="50000"/>
                  </a:schemeClr>
                </a:solidFill>
              </a:rPr>
              <a:t>margin-left</a:t>
            </a:r>
          </a:p>
          <a:p>
            <a:pPr lvl="0"/>
            <a:endParaRPr lang="en-US" altLang="en-US" dirty="0">
              <a:solidFill>
                <a:schemeClr val="bg2">
                  <a:lumMod val="50000"/>
                </a:schemeClr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altLang="en-US" dirty="0"/>
              <a:t>All the margin properties can have the following values:</a:t>
            </a:r>
          </a:p>
          <a:p>
            <a:pPr lvl="0"/>
            <a:endParaRPr lang="en-US" altLang="en-US" dirty="0"/>
          </a:p>
          <a:p>
            <a:pPr lvl="0"/>
            <a:r>
              <a:rPr lang="en-US" altLang="en-US" dirty="0">
                <a:solidFill>
                  <a:schemeClr val="bg2">
                    <a:lumMod val="50000"/>
                  </a:schemeClr>
                </a:solidFill>
              </a:rPr>
              <a:t>auto</a:t>
            </a:r>
            <a:r>
              <a:rPr lang="en-US" altLang="en-US" dirty="0"/>
              <a:t> - the browser calculates the margin</a:t>
            </a:r>
          </a:p>
          <a:p>
            <a:pPr lvl="0"/>
            <a:r>
              <a:rPr lang="en-US" altLang="en-US" dirty="0">
                <a:solidFill>
                  <a:schemeClr val="bg2">
                    <a:lumMod val="50000"/>
                  </a:schemeClr>
                </a:solidFill>
              </a:rPr>
              <a:t>length</a:t>
            </a:r>
            <a:r>
              <a:rPr lang="en-US" altLang="en-US" dirty="0"/>
              <a:t> - specifies a margin in px, </a:t>
            </a:r>
            <a:r>
              <a:rPr lang="en-US" altLang="en-US" dirty="0" err="1"/>
              <a:t>pt</a:t>
            </a:r>
            <a:r>
              <a:rPr lang="en-US" altLang="en-US" dirty="0"/>
              <a:t>, cm, etc.</a:t>
            </a:r>
          </a:p>
          <a:p>
            <a:pPr lvl="0"/>
            <a:r>
              <a:rPr lang="en-US" altLang="en-US" dirty="0">
                <a:solidFill>
                  <a:schemeClr val="bg2">
                    <a:lumMod val="50000"/>
                  </a:schemeClr>
                </a:solidFill>
              </a:rPr>
              <a:t>%</a:t>
            </a:r>
            <a:r>
              <a:rPr lang="en-US" altLang="en-US" dirty="0"/>
              <a:t> - specifies a margin in % of the width of the containing element</a:t>
            </a:r>
          </a:p>
          <a:p>
            <a:pPr lvl="0"/>
            <a:r>
              <a:rPr lang="en-US" altLang="en-US" dirty="0">
                <a:solidFill>
                  <a:schemeClr val="bg2">
                    <a:lumMod val="50000"/>
                  </a:schemeClr>
                </a:solidFill>
              </a:rPr>
              <a:t>inherit</a:t>
            </a:r>
            <a:r>
              <a:rPr lang="en-US" altLang="en-US" dirty="0"/>
              <a:t> - specifies that the margin should be inherited from the parent element</a:t>
            </a:r>
          </a:p>
        </p:txBody>
      </p:sp>
    </p:spTree>
    <p:extLst>
      <p:ext uri="{BB962C8B-B14F-4D97-AF65-F5344CB8AC3E}">
        <p14:creationId xmlns:p14="http://schemas.microsoft.com/office/powerpoint/2010/main" val="1720561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51692" y="595100"/>
            <a:ext cx="321669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Example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56CD2EA8-B54C-CE4F-A943-BFB367453E0E}"/>
              </a:ext>
            </a:extLst>
          </p:cNvPr>
          <p:cNvSpPr txBox="1"/>
          <p:nvPr/>
        </p:nvSpPr>
        <p:spPr>
          <a:xfrm>
            <a:off x="251843" y="1148925"/>
            <a:ext cx="889215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div {</a:t>
            </a:r>
          </a:p>
          <a:p>
            <a:r>
              <a:rPr lang="en-US" dirty="0"/>
              <a:t>  border: 1px solid black;</a:t>
            </a:r>
          </a:p>
          <a:p>
            <a:r>
              <a:rPr lang="en-US" dirty="0"/>
              <a:t>  margin-top: 50px;</a:t>
            </a:r>
          </a:p>
          <a:p>
            <a:r>
              <a:rPr lang="en-US" dirty="0"/>
              <a:t>  margin-bottom: 100px;</a:t>
            </a:r>
          </a:p>
          <a:p>
            <a:r>
              <a:rPr lang="en-US" dirty="0"/>
              <a:t>  margin-right: 150px;</a:t>
            </a:r>
          </a:p>
          <a:p>
            <a:r>
              <a:rPr lang="en-US" dirty="0"/>
              <a:t>  margin-left: 80px;</a:t>
            </a:r>
          </a:p>
          <a:p>
            <a:r>
              <a:rPr lang="en-US" dirty="0"/>
              <a:t>  background-color: </a:t>
            </a:r>
            <a:r>
              <a:rPr lang="en-US" dirty="0" err="1"/>
              <a:t>lightblue</a:t>
            </a:r>
            <a:r>
              <a:rPr lang="en-US" dirty="0"/>
              <a:t>;</a:t>
            </a:r>
          </a:p>
          <a:p>
            <a:r>
              <a:rPr lang="en-US" dirty="0"/>
              <a:t>}</a:t>
            </a:r>
            <a:endParaRPr lang="en-US" sz="16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E274CEF6-28C4-483B-B8C1-C00739944A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577" y="4134047"/>
            <a:ext cx="5381625" cy="1571625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xmlns="" id="{04DEAE4A-E4F0-4F3C-8A45-7D92B24EB566}"/>
              </a:ext>
            </a:extLst>
          </p:cNvPr>
          <p:cNvCxnSpPr/>
          <p:nvPr/>
        </p:nvCxnSpPr>
        <p:spPr>
          <a:xfrm>
            <a:off x="3568390" y="4417255"/>
            <a:ext cx="0" cy="50643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xmlns="" id="{FCC1E142-27B6-4EEA-B1E2-D8FAADE58ACA}"/>
              </a:ext>
            </a:extLst>
          </p:cNvPr>
          <p:cNvCxnSpPr/>
          <p:nvPr/>
        </p:nvCxnSpPr>
        <p:spPr>
          <a:xfrm>
            <a:off x="1012874" y="5134708"/>
            <a:ext cx="71745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54081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CSS Padding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xmlns="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C43117AC-150D-4849-8A6F-2355248F2EF9}"/>
              </a:ext>
            </a:extLst>
          </p:cNvPr>
          <p:cNvSpPr/>
          <p:nvPr/>
        </p:nvSpPr>
        <p:spPr>
          <a:xfrm>
            <a:off x="313006" y="2017059"/>
            <a:ext cx="8517988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padding properties are used to generate space around an element's content. </a:t>
            </a:r>
          </a:p>
          <a:p>
            <a:r>
              <a:rPr lang="en-US" sz="2000" dirty="0"/>
              <a:t>setting the padding for each side of an element (top, right, bottom, and left).</a:t>
            </a:r>
          </a:p>
          <a:p>
            <a:r>
              <a:rPr lang="en-US" sz="2000" dirty="0"/>
              <a:t>CSS has properties for specifying the padding for each side of an element:</a:t>
            </a:r>
          </a:p>
          <a:p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padding-top</a:t>
            </a:r>
          </a:p>
          <a:p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padding-right</a:t>
            </a:r>
          </a:p>
          <a:p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padding-bottom</a:t>
            </a:r>
          </a:p>
          <a:p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padding-left</a:t>
            </a:r>
          </a:p>
          <a:p>
            <a:endParaRPr lang="en-US" sz="2000" dirty="0"/>
          </a:p>
          <a:p>
            <a:r>
              <a:rPr lang="en-US" sz="2000" dirty="0"/>
              <a:t>All the padding properties can have the following values:</a:t>
            </a:r>
          </a:p>
          <a:p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length</a:t>
            </a:r>
            <a:r>
              <a:rPr lang="en-US" sz="2000" dirty="0"/>
              <a:t> - specifies a padding in px, </a:t>
            </a:r>
            <a:r>
              <a:rPr lang="en-US" sz="2000" dirty="0" err="1"/>
              <a:t>pt</a:t>
            </a:r>
            <a:r>
              <a:rPr lang="en-US" sz="2000" dirty="0"/>
              <a:t>, cm, etc.</a:t>
            </a:r>
          </a:p>
          <a:p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%</a:t>
            </a:r>
            <a:r>
              <a:rPr lang="en-US" sz="2000" dirty="0"/>
              <a:t> - specifies a padding in % of the width of the containing element</a:t>
            </a:r>
          </a:p>
          <a:p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inherit</a:t>
            </a:r>
            <a:r>
              <a:rPr lang="en-US" sz="2000" dirty="0"/>
              <a:t> - specifies that the padding should be inherited from the parent element</a:t>
            </a:r>
          </a:p>
        </p:txBody>
      </p:sp>
    </p:spTree>
    <p:extLst>
      <p:ext uri="{BB962C8B-B14F-4D97-AF65-F5344CB8AC3E}">
        <p14:creationId xmlns:p14="http://schemas.microsoft.com/office/powerpoint/2010/main" val="2345641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51692" y="595100"/>
            <a:ext cx="321669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Example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56CD2EA8-B54C-CE4F-A943-BFB367453E0E}"/>
              </a:ext>
            </a:extLst>
          </p:cNvPr>
          <p:cNvSpPr txBox="1"/>
          <p:nvPr/>
        </p:nvSpPr>
        <p:spPr>
          <a:xfrm>
            <a:off x="351692" y="1126091"/>
            <a:ext cx="7879283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div {</a:t>
            </a:r>
          </a:p>
          <a:p>
            <a:r>
              <a:rPr lang="en-US" sz="1600" dirty="0"/>
              <a:t>  border: 1px solid black;</a:t>
            </a:r>
          </a:p>
          <a:p>
            <a:r>
              <a:rPr lang="en-US" sz="1600" dirty="0"/>
              <a:t>  background-color: </a:t>
            </a:r>
            <a:r>
              <a:rPr lang="en-US" sz="1600" dirty="0" err="1"/>
              <a:t>lightblue</a:t>
            </a:r>
            <a:r>
              <a:rPr lang="en-US" sz="1600" dirty="0"/>
              <a:t>;</a:t>
            </a:r>
          </a:p>
          <a:p>
            <a:r>
              <a:rPr lang="en-US" sz="1600" dirty="0"/>
              <a:t>  padding-top: 50px;</a:t>
            </a:r>
          </a:p>
          <a:p>
            <a:r>
              <a:rPr lang="en-US" sz="1600" dirty="0"/>
              <a:t>  padding-right: 30px;</a:t>
            </a:r>
          </a:p>
          <a:p>
            <a:r>
              <a:rPr lang="en-US" sz="1600" dirty="0"/>
              <a:t>  padding-bottom: 50px;</a:t>
            </a:r>
          </a:p>
          <a:p>
            <a:r>
              <a:rPr lang="en-US" sz="1600" dirty="0"/>
              <a:t>  padding-left: 80px;</a:t>
            </a:r>
          </a:p>
          <a:p>
            <a:r>
              <a:rPr lang="en-US" sz="1600" dirty="0"/>
              <a:t>}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34E62D81-5AF9-43D0-92BD-528157E03F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564" y="3769702"/>
            <a:ext cx="7874872" cy="1787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7398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CSS Height and Width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xmlns="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E4CDF8BE-CA8F-4FF0-B77E-75D90EEC731D}"/>
              </a:ext>
            </a:extLst>
          </p:cNvPr>
          <p:cNvSpPr/>
          <p:nvPr/>
        </p:nvSpPr>
        <p:spPr>
          <a:xfrm>
            <a:off x="476205" y="2027170"/>
            <a:ext cx="8372373" cy="45243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 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height</a:t>
            </a:r>
            <a:r>
              <a:rPr lang="en-US" sz="2400" dirty="0"/>
              <a:t> and 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width</a:t>
            </a:r>
            <a:r>
              <a:rPr lang="en-US" sz="2400" dirty="0"/>
              <a:t> properties are used to set the height and width of an element.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 height and width properties do not include padding, borders, or margins. It sets the height/width of the area inside the padding, border, and margin of the element.</a:t>
            </a:r>
          </a:p>
          <a:p>
            <a:r>
              <a:rPr lang="en-US" sz="2400" dirty="0"/>
              <a:t>The height and width properties may have the following values:</a:t>
            </a:r>
          </a:p>
          <a:p>
            <a:endParaRPr lang="en-US" sz="2400" dirty="0"/>
          </a:p>
          <a:p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auto</a:t>
            </a:r>
            <a:r>
              <a:rPr lang="en-US" sz="2400" dirty="0"/>
              <a:t> - This is default. The browser calculates the height and width</a:t>
            </a:r>
          </a:p>
          <a:p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length</a:t>
            </a:r>
            <a:r>
              <a:rPr lang="en-US" sz="2400" dirty="0"/>
              <a:t> - Defines the height/width in px, cm etc.</a:t>
            </a:r>
          </a:p>
          <a:p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%</a:t>
            </a:r>
            <a:r>
              <a:rPr lang="en-US" sz="2400" dirty="0"/>
              <a:t> - Defines the height/width in percent of the containing block</a:t>
            </a:r>
          </a:p>
          <a:p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initial</a:t>
            </a:r>
            <a:r>
              <a:rPr lang="en-US" sz="2400" dirty="0"/>
              <a:t> - Sets the height/width to its default value</a:t>
            </a:r>
          </a:p>
          <a:p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inherit</a:t>
            </a:r>
            <a:r>
              <a:rPr lang="en-US" sz="2400" dirty="0"/>
              <a:t> - The height/width will be inherited from its parent value</a:t>
            </a:r>
          </a:p>
        </p:txBody>
      </p:sp>
    </p:spTree>
    <p:extLst>
      <p:ext uri="{BB962C8B-B14F-4D97-AF65-F5344CB8AC3E}">
        <p14:creationId xmlns:p14="http://schemas.microsoft.com/office/powerpoint/2010/main" val="35997668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51691" y="595100"/>
            <a:ext cx="4206242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External CSS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56CD2EA8-B54C-CE4F-A943-BFB367453E0E}"/>
              </a:ext>
            </a:extLst>
          </p:cNvPr>
          <p:cNvSpPr txBox="1"/>
          <p:nvPr/>
        </p:nvSpPr>
        <p:spPr>
          <a:xfrm>
            <a:off x="389091" y="1257327"/>
            <a:ext cx="787928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div {</a:t>
            </a:r>
            <a:br>
              <a:rPr lang="en-US" dirty="0"/>
            </a:br>
            <a:r>
              <a:rPr lang="en-US" dirty="0"/>
              <a:t>  height: 200px;</a:t>
            </a:r>
            <a:br>
              <a:rPr lang="en-US" dirty="0"/>
            </a:br>
            <a:r>
              <a:rPr lang="en-US" dirty="0"/>
              <a:t>  width: 50%;</a:t>
            </a:r>
            <a:br>
              <a:rPr lang="en-US" dirty="0"/>
            </a:br>
            <a:r>
              <a:rPr lang="en-US" dirty="0"/>
              <a:t>  background-color: </a:t>
            </a:r>
            <a:r>
              <a:rPr lang="en-US" dirty="0" err="1"/>
              <a:t>powderblue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}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DC58C4EF-E09C-40EB-A352-7BB29D8C99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900" y="3807288"/>
            <a:ext cx="4295775" cy="2028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2498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51691" y="595100"/>
            <a:ext cx="4206242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External CSS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56CD2EA8-B54C-CE4F-A943-BFB367453E0E}"/>
              </a:ext>
            </a:extLst>
          </p:cNvPr>
          <p:cNvSpPr txBox="1"/>
          <p:nvPr/>
        </p:nvSpPr>
        <p:spPr>
          <a:xfrm>
            <a:off x="389091" y="1257327"/>
            <a:ext cx="7879283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An external style sheet can be written with a .</a:t>
            </a:r>
            <a:r>
              <a:rPr lang="en-US" sz="2400" dirty="0" err="1"/>
              <a:t>css</a:t>
            </a:r>
            <a:r>
              <a:rPr lang="en-US" sz="2400" dirty="0"/>
              <a:t> extension.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external .</a:t>
            </a:r>
            <a:r>
              <a:rPr lang="en-US" sz="2400" dirty="0" err="1"/>
              <a:t>css</a:t>
            </a:r>
            <a:r>
              <a:rPr lang="en-US" sz="2400" dirty="0"/>
              <a:t> file should not contain any HTML tags.</a:t>
            </a:r>
          </a:p>
          <a:p>
            <a:endParaRPr lang="en-US" dirty="0"/>
          </a:p>
          <a:p>
            <a:r>
              <a:rPr lang="en-US" sz="2400" b="1" dirty="0"/>
              <a:t>"</a:t>
            </a:r>
            <a:r>
              <a:rPr lang="en-US" sz="2400" b="1" dirty="0">
                <a:solidFill>
                  <a:schemeClr val="bg2">
                    <a:lumMod val="50000"/>
                  </a:schemeClr>
                </a:solidFill>
              </a:rPr>
              <a:t>mystyle.css</a:t>
            </a:r>
            <a:r>
              <a:rPr lang="en-US" sz="2400" b="1" dirty="0"/>
              <a:t>“</a:t>
            </a:r>
          </a:p>
          <a:p>
            <a:endParaRPr lang="en-US" sz="2400" b="1" dirty="0"/>
          </a:p>
          <a:p>
            <a:r>
              <a:rPr lang="en-US" dirty="0"/>
              <a:t>body {</a:t>
            </a:r>
            <a:br>
              <a:rPr lang="en-US" dirty="0"/>
            </a:br>
            <a:r>
              <a:rPr lang="en-US" dirty="0"/>
              <a:t>  background-color: </a:t>
            </a:r>
            <a:r>
              <a:rPr lang="en-US" dirty="0" err="1"/>
              <a:t>lightblue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}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h1 {</a:t>
            </a:r>
            <a:br>
              <a:rPr lang="en-US" dirty="0"/>
            </a:br>
            <a:r>
              <a:rPr lang="en-US" dirty="0"/>
              <a:t>  color: navy;</a:t>
            </a:r>
            <a:br>
              <a:rPr lang="en-US" dirty="0"/>
            </a:br>
            <a:r>
              <a:rPr lang="en-US" dirty="0"/>
              <a:t>  margin-left: 20px;</a:t>
            </a:r>
            <a:br>
              <a:rPr lang="en-US" dirty="0"/>
            </a:b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937056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56CD2EA8-B54C-CE4F-A943-BFB367453E0E}"/>
              </a:ext>
            </a:extLst>
          </p:cNvPr>
          <p:cNvSpPr txBox="1"/>
          <p:nvPr/>
        </p:nvSpPr>
        <p:spPr>
          <a:xfrm>
            <a:off x="251843" y="1743399"/>
            <a:ext cx="864031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MySQL - </a:t>
            </a:r>
            <a:r>
              <a:rPr lang="en-US" sz="2800" dirty="0">
                <a:hlinkClick r:id="rId2"/>
              </a:rPr>
              <a:t>www.mysql.com</a:t>
            </a: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W3Schools Online Web Tutorials- </a:t>
            </a:r>
            <a:r>
              <a:rPr lang="en-US" sz="2800" dirty="0">
                <a:hlinkClick r:id="rId3"/>
              </a:rPr>
              <a:t>www.w3schools.com</a:t>
            </a: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PHP Manual - </a:t>
            </a:r>
            <a:r>
              <a:rPr lang="en-US" sz="2800" dirty="0">
                <a:hlinkClick r:id="rId4"/>
              </a:rPr>
              <a:t>www.php.net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F2944A7F-5AE5-EC49-82AF-722C8C8F62C6}"/>
              </a:ext>
            </a:extLst>
          </p:cNvPr>
          <p:cNvSpPr txBox="1"/>
          <p:nvPr/>
        </p:nvSpPr>
        <p:spPr>
          <a:xfrm>
            <a:off x="365759" y="1605903"/>
            <a:ext cx="841248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Sams</a:t>
            </a:r>
            <a:r>
              <a:rPr lang="en-US" sz="2400" dirty="0"/>
              <a:t> Teach Yourself Ajax JavaScript and PHP All in One; Phil Ballard and Michael Moncur;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Sams</a:t>
            </a:r>
            <a:r>
              <a:rPr lang="en-US" sz="2400" dirty="0"/>
              <a:t> Publishing; 2010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JavaScript Phrasebook; Christian Wenz; </a:t>
            </a:r>
            <a:r>
              <a:rPr lang="en-US" sz="2400" dirty="0" err="1"/>
              <a:t>Sams</a:t>
            </a:r>
            <a:r>
              <a:rPr lang="en-US" sz="2400" dirty="0"/>
              <a:t> Publishing; 2007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PHP and MySQL Web Development, 4/E; Luke Welling and Laura Thomson; </a:t>
            </a:r>
            <a:r>
              <a:rPr lang="en-US" sz="2400" dirty="0" err="1"/>
              <a:t>AddisonWesley</a:t>
            </a:r>
            <a:r>
              <a:rPr lang="en-US" sz="2400" dirty="0"/>
              <a:t> Professional; 2009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JavaScript for Programmers Paul J. </a:t>
            </a:r>
            <a:r>
              <a:rPr lang="en-US" sz="2400" dirty="0" err="1"/>
              <a:t>Deitel</a:t>
            </a:r>
            <a:r>
              <a:rPr lang="en-US" sz="2400" dirty="0"/>
              <a:t> and Harvey M. </a:t>
            </a:r>
            <a:r>
              <a:rPr lang="en-US" sz="2400" dirty="0" err="1"/>
              <a:t>Deitel</a:t>
            </a:r>
            <a:r>
              <a:rPr lang="en-US" sz="2400" dirty="0"/>
              <a:t>; Prentice Hall; 2009</a:t>
            </a:r>
            <a:endParaRPr lang="x-none" sz="2400" dirty="0"/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4570</TotalTime>
  <Words>709</Words>
  <Application>Microsoft Office PowerPoint</Application>
  <PresentationFormat>On-screen Show (4:3)</PresentationFormat>
  <Paragraphs>125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Consolas</vt:lpstr>
      <vt:lpstr>Corbel</vt:lpstr>
      <vt:lpstr>Segoe UI</vt:lpstr>
      <vt:lpstr>Wingdings</vt:lpstr>
      <vt:lpstr>Spectrum</vt:lpstr>
      <vt:lpstr>Introduction to CSS</vt:lpstr>
      <vt:lpstr>Lecture Outline</vt:lpstr>
      <vt:lpstr>CSS Borders</vt:lpstr>
      <vt:lpstr>PowerPoint Presentation</vt:lpstr>
      <vt:lpstr>PowerPoint Presentation</vt:lpstr>
      <vt:lpstr>CSS Margins</vt:lpstr>
      <vt:lpstr>PowerPoint Presentation</vt:lpstr>
      <vt:lpstr>CSS Padding</vt:lpstr>
      <vt:lpstr>PowerPoint Presentation</vt:lpstr>
      <vt:lpstr>CSS Height and Width</vt:lpstr>
      <vt:lpstr>PowerPoint Presentation</vt:lpstr>
      <vt:lpstr>PowerPoint Presentation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Nabil</cp:lastModifiedBy>
  <cp:revision>333</cp:revision>
  <dcterms:created xsi:type="dcterms:W3CDTF">2018-12-10T17:20:29Z</dcterms:created>
  <dcterms:modified xsi:type="dcterms:W3CDTF">2020-06-30T13:18:40Z</dcterms:modified>
</cp:coreProperties>
</file>